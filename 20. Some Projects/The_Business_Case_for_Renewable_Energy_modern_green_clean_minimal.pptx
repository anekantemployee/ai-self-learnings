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Welcome to our presentation on 'The Business Case for Renewable Energy'. My name is [Your Name/Company Name], and today we'll explore why investing in renewables is not just an environmental choice, but a strategic business imperative.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cover the core benefits, starting with the significant financial advantages, then move to the crucial environmental impact, discuss practical implementation strategies, and conclude with a Q&amp;A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compelling reasons for businesses to adopt renewable energy is the direct financial benefit. This isn't just about 'going green'; it's about smart economics and securing your energy future.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Renewables offer stable pricing, unlike fluctuating fossil fuel markets. Government incentives often provide significant financial boosts, and modern systems require less maintenance, contributing to overall savings and asset appreciation.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financial gains are crucial, the environmental impact of renewable energy cannot be overstated. It aligns your business with global sustainability goals, resonating with customers, employees, and investors alike.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reducing emissions, we contribute to cleaner air and water. This commitment boosts your brand's image, making it more attractive to a growing segment of environmentally aware consumers and top talent.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multiple avenues for integrating renewables. From installing solar panels on your property to purchasing green energy through PPAs, or simply upgrading your current systems for efficiency, tailored solutions exist for every business.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business case for renewable energy is robust. It's about securing your operational future, improving your bottom line, and positioning your company as a responsible and forward-thinking leader. The time to act is now.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attention today. I'm now open to any questions you may have, and I look forward to discussing how renewable energy can benefit your specific business needs.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0152" cy="1371600"/>
          </a:xfrm>
          <a:prstGeom prst="rect">
            <a:avLst/>
          </a:prstGeom>
          <a:noFill/>
        </p:spPr>
        <p:txBody>
          <a:bodyPr wrap="none">
            <a:spAutoFit/>
          </a:bodyPr>
          <a:lstStyle/>
          <a:p>
            <a:pPr algn="ctr">
              <a:defRPr sz="4800" b="1">
                <a:solidFill>
                  <a:srgbClr val="2E7D32"/>
                </a:solidFill>
                <a:latin typeface="Segoe UI"/>
              </a:defRPr>
            </a:pPr>
            <a:r>
              <a:t>The Business Case for Renewable Energy</a:t>
            </a:r>
          </a:p>
        </p:txBody>
      </p:sp>
      <p:sp>
        <p:nvSpPr>
          <p:cNvPr id="4" name="TextBox 3"/>
          <p:cNvSpPr txBox="1"/>
          <p:nvPr/>
        </p:nvSpPr>
        <p:spPr>
          <a:xfrm>
            <a:off x="914400" y="4114800"/>
            <a:ext cx="10360152" cy="914400"/>
          </a:xfrm>
          <a:prstGeom prst="rect">
            <a:avLst/>
          </a:prstGeom>
          <a:noFill/>
        </p:spPr>
        <p:txBody>
          <a:bodyPr wrap="none">
            <a:spAutoFit/>
          </a:bodyPr>
          <a:lstStyle/>
          <a:p>
            <a:pPr algn="ctr">
              <a:defRPr sz="2800">
                <a:solidFill>
                  <a:srgbClr val="424242"/>
                </a:solidFill>
                <a:latin typeface="Segoe UI"/>
              </a:defRPr>
            </a:pPr>
            <a:r>
              <a:t>Driving Sustainable Growth and Profitability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914400"/>
          </a:xfrm>
          <a:prstGeom prst="rect">
            <a:avLst/>
          </a:prstGeom>
          <a:noFill/>
        </p:spPr>
        <p:txBody>
          <a:bodyPr wrap="none">
            <a:spAutoFit/>
          </a:bodyPr>
          <a:lstStyle/>
          <a:p>
            <a:pPr algn="l">
              <a:defRPr sz="3600" b="1">
                <a:solidFill>
                  <a:srgbClr val="2E7D32"/>
                </a:solidFill>
                <a:latin typeface="Segoe UI"/>
              </a:defRPr>
            </a:pPr>
            <a:r>
              <a:t>Today's Agenda: Why Renewables Matter</a:t>
            </a:r>
          </a:p>
        </p:txBody>
      </p:sp>
      <p:sp>
        <p:nvSpPr>
          <p:cNvPr id="4" name="TextBox 3"/>
          <p:cNvSpPr txBox="1"/>
          <p:nvPr/>
        </p:nvSpPr>
        <p:spPr>
          <a:xfrm>
            <a:off x="640080" y="1645920"/>
            <a:ext cx="10634472" cy="4114800"/>
          </a:xfrm>
          <a:prstGeom prst="rect">
            <a:avLst/>
          </a:prstGeom>
          <a:noFill/>
        </p:spPr>
        <p:txBody>
          <a:bodyPr wrap="none" lIns="274320" tIns="182880">
            <a:spAutoFit/>
          </a:bodyPr>
          <a:lstStyle/>
          <a:p>
            <a:pPr algn="l">
              <a:spcAft>
                <a:spcPts val="1600"/>
              </a:spcAft>
              <a:defRPr sz="2400">
                <a:solidFill>
                  <a:srgbClr val="424242"/>
                </a:solidFill>
                <a:latin typeface="Segoe UI"/>
              </a:defRPr>
            </a:pPr>
            <a:r>
              <a:t>Financial Advantages</a:t>
            </a:r>
          </a:p>
          <a:p>
            <a:pPr algn="l">
              <a:spcAft>
                <a:spcPts val="1600"/>
              </a:spcAft>
              <a:defRPr sz="2400">
                <a:solidFill>
                  <a:srgbClr val="424242"/>
                </a:solidFill>
                <a:latin typeface="Segoe UI"/>
              </a:defRPr>
            </a:pPr>
            <a:r>
              <a:t>Environmental Responsibility</a:t>
            </a:r>
          </a:p>
          <a:p>
            <a:pPr algn="l">
              <a:spcAft>
                <a:spcPts val="1600"/>
              </a:spcAft>
              <a:defRPr sz="2400">
                <a:solidFill>
                  <a:srgbClr val="424242"/>
                </a:solidFill>
                <a:latin typeface="Segoe UI"/>
              </a:defRPr>
            </a:pPr>
            <a:r>
              <a:t>Strategic Implementation</a:t>
            </a:r>
          </a:p>
          <a:p>
            <a:pPr algn="l">
              <a:spcAft>
                <a:spcPts val="1600"/>
              </a:spcAft>
              <a:defRPr sz="2400">
                <a:solidFill>
                  <a:srgbClr val="424242"/>
                </a:solidFill>
                <a:latin typeface="Segoe UI"/>
              </a:defRPr>
            </a:pPr>
            <a:r>
              <a:t>Q&amp;A Session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60152" cy="914400"/>
          </a:xfrm>
          <a:prstGeom prst="rect">
            <a:avLst/>
          </a:prstGeom>
          <a:noFill/>
        </p:spPr>
        <p:txBody>
          <a:bodyPr wrap="none">
            <a:spAutoFit/>
          </a:bodyPr>
          <a:lstStyle/>
          <a:p>
            <a:pPr algn="l">
              <a:defRPr sz="3600" b="1">
                <a:solidFill>
                  <a:srgbClr val="2E7D32"/>
                </a:solidFill>
              </a:defRPr>
            </a:pPr>
            <a:r>
              <a:t>A New Era of Energy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914400"/>
          </a:xfrm>
          <a:prstGeom prst="rect">
            <a:avLst/>
          </a:prstGeom>
          <a:noFill/>
        </p:spPr>
        <p:txBody>
          <a:bodyPr wrap="none">
            <a:spAutoFit/>
          </a:bodyPr>
          <a:lstStyle/>
          <a:p>
            <a:pPr algn="l">
              <a:defRPr sz="3600" b="1">
                <a:solidFill>
                  <a:srgbClr val="2E7D32"/>
                </a:solidFill>
                <a:latin typeface="Segoe UI"/>
              </a:defRPr>
            </a:pPr>
            <a:r>
              <a:t>Unlocking Financial Benefits</a:t>
            </a:r>
          </a:p>
        </p:txBody>
      </p:sp>
      <p:sp>
        <p:nvSpPr>
          <p:cNvPr id="4" name="TextBox 3"/>
          <p:cNvSpPr txBox="1"/>
          <p:nvPr/>
        </p:nvSpPr>
        <p:spPr>
          <a:xfrm>
            <a:off x="640080" y="1645920"/>
            <a:ext cx="10634472" cy="4114800"/>
          </a:xfrm>
          <a:prstGeom prst="rect">
            <a:avLst/>
          </a:prstGeom>
          <a:noFill/>
        </p:spPr>
        <p:txBody>
          <a:bodyPr wrap="none" lIns="274320" tIns="182880">
            <a:spAutoFit/>
          </a:bodyPr>
          <a:lstStyle/>
          <a:p>
            <a:pPr algn="l">
              <a:spcAft>
                <a:spcPts val="1200"/>
              </a:spcAft>
              <a:defRPr sz="2000">
                <a:solidFill>
                  <a:srgbClr val="424242"/>
                </a:solidFill>
                <a:latin typeface="Segoe UI"/>
              </a:defRPr>
            </a:pPr>
            <a:r>
              <a:t>Investing in renewable energy systems offers significant long-term cost reductions. Businesses can move away from volatile fossil fuel prices towards predictable, stable energy expenses, enhancing budgetary control and financial forecasting.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914400"/>
          </a:xfrm>
          <a:prstGeom prst="rect">
            <a:avLst/>
          </a:prstGeom>
          <a:noFill/>
        </p:spPr>
        <p:txBody>
          <a:bodyPr wrap="none">
            <a:spAutoFit/>
          </a:bodyPr>
          <a:lstStyle/>
          <a:p>
            <a:pPr algn="l">
              <a:defRPr sz="3600" b="1">
                <a:solidFill>
                  <a:srgbClr val="2E7D32"/>
                </a:solidFill>
                <a:latin typeface="Segoe UI"/>
              </a:defRPr>
            </a:pPr>
            <a:r>
              <a:t>Predictable Energy Costs</a:t>
            </a:r>
          </a:p>
        </p:txBody>
      </p:sp>
      <p:sp>
        <p:nvSpPr>
          <p:cNvPr id="4" name="TextBox 3"/>
          <p:cNvSpPr txBox="1"/>
          <p:nvPr/>
        </p:nvSpPr>
        <p:spPr>
          <a:xfrm>
            <a:off x="640080" y="1645920"/>
            <a:ext cx="10634472" cy="4114800"/>
          </a:xfrm>
          <a:prstGeom prst="rect">
            <a:avLst/>
          </a:prstGeom>
          <a:noFill/>
        </p:spPr>
        <p:txBody>
          <a:bodyPr wrap="none" lIns="274320" tIns="182880">
            <a:spAutoFit/>
          </a:bodyPr>
          <a:lstStyle/>
          <a:p>
            <a:pPr algn="l">
              <a:spcAft>
                <a:spcPts val="1600"/>
              </a:spcAft>
              <a:defRPr sz="2400">
                <a:solidFill>
                  <a:srgbClr val="424242"/>
                </a:solidFill>
                <a:latin typeface="Segoe UI"/>
              </a:defRPr>
            </a:pPr>
            <a:r>
              <a:t>Reduce operational expenses</a:t>
            </a:r>
          </a:p>
          <a:p>
            <a:pPr algn="l">
              <a:spcAft>
                <a:spcPts val="1600"/>
              </a:spcAft>
              <a:defRPr sz="2400">
                <a:solidFill>
                  <a:srgbClr val="424242"/>
                </a:solidFill>
                <a:latin typeface="Segoe UI"/>
              </a:defRPr>
            </a:pPr>
            <a:r>
              <a:t>Hedge against price volatility</a:t>
            </a:r>
          </a:p>
          <a:p>
            <a:pPr algn="l">
              <a:spcAft>
                <a:spcPts val="1600"/>
              </a:spcAft>
              <a:defRPr sz="2400">
                <a:solidFill>
                  <a:srgbClr val="424242"/>
                </a:solidFill>
                <a:latin typeface="Segoe UI"/>
              </a:defRPr>
            </a:pPr>
            <a:r>
              <a:t>Access tax incentives</a:t>
            </a:r>
          </a:p>
          <a:p>
            <a:pPr algn="l">
              <a:spcAft>
                <a:spcPts val="1600"/>
              </a:spcAft>
              <a:defRPr sz="2400">
                <a:solidFill>
                  <a:srgbClr val="424242"/>
                </a:solidFill>
                <a:latin typeface="Segoe UI"/>
              </a:defRPr>
            </a:pPr>
            <a:r>
              <a:t>Lower maintenance needs</a:t>
            </a:r>
          </a:p>
          <a:p>
            <a:pPr algn="l">
              <a:spcAft>
                <a:spcPts val="1600"/>
              </a:spcAft>
              <a:defRPr sz="2400">
                <a:solidFill>
                  <a:srgbClr val="424242"/>
                </a:solidFill>
                <a:latin typeface="Segoe UI"/>
              </a:defRPr>
            </a:pPr>
            <a:r>
              <a:t>Increase property value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914400"/>
          </a:xfrm>
          <a:prstGeom prst="rect">
            <a:avLst/>
          </a:prstGeom>
          <a:noFill/>
        </p:spPr>
        <p:txBody>
          <a:bodyPr wrap="none">
            <a:spAutoFit/>
          </a:bodyPr>
          <a:lstStyle/>
          <a:p>
            <a:pPr algn="l">
              <a:defRPr sz="3600" b="1">
                <a:solidFill>
                  <a:srgbClr val="2E7D32"/>
                </a:solidFill>
                <a:latin typeface="Segoe UI"/>
              </a:defRPr>
            </a:pPr>
            <a:r>
              <a:t>Beyond Profits: Environmental Stewardship</a:t>
            </a:r>
          </a:p>
        </p:txBody>
      </p:sp>
      <p:sp>
        <p:nvSpPr>
          <p:cNvPr id="4" name="TextBox 3"/>
          <p:cNvSpPr txBox="1"/>
          <p:nvPr/>
        </p:nvSpPr>
        <p:spPr>
          <a:xfrm>
            <a:off x="640080" y="1645920"/>
            <a:ext cx="10634472" cy="4114800"/>
          </a:xfrm>
          <a:prstGeom prst="rect">
            <a:avLst/>
          </a:prstGeom>
          <a:noFill/>
        </p:spPr>
        <p:txBody>
          <a:bodyPr wrap="none" lIns="274320" tIns="182880">
            <a:spAutoFit/>
          </a:bodyPr>
          <a:lstStyle/>
          <a:p>
            <a:pPr algn="l">
              <a:spcAft>
                <a:spcPts val="1200"/>
              </a:spcAft>
              <a:defRPr sz="2000">
                <a:solidFill>
                  <a:srgbClr val="424242"/>
                </a:solidFill>
                <a:latin typeface="Segoe UI"/>
              </a:defRPr>
            </a:pPr>
            <a:r>
              <a:t>Embracing renewable energy demonstrates a strong commitment to corporate social responsibility. This enhances brand reputation, meets stakeholder demands for sustainability, and positions your business as a leader in environmental care.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914400"/>
          </a:xfrm>
          <a:prstGeom prst="rect">
            <a:avLst/>
          </a:prstGeom>
          <a:noFill/>
        </p:spPr>
        <p:txBody>
          <a:bodyPr wrap="none">
            <a:spAutoFit/>
          </a:bodyPr>
          <a:lstStyle/>
          <a:p>
            <a:pPr algn="l">
              <a:defRPr sz="3600" b="1">
                <a:solidFill>
                  <a:srgbClr val="2E7D32"/>
                </a:solidFill>
                <a:latin typeface="Segoe UI"/>
              </a:defRPr>
            </a:pPr>
            <a:r>
              <a:t>Building a Sustainable Future</a:t>
            </a:r>
          </a:p>
        </p:txBody>
      </p:sp>
      <p:sp>
        <p:nvSpPr>
          <p:cNvPr id="4" name="TextBox 3"/>
          <p:cNvSpPr txBox="1"/>
          <p:nvPr/>
        </p:nvSpPr>
        <p:spPr>
          <a:xfrm>
            <a:off x="640080" y="1645920"/>
            <a:ext cx="10634472" cy="4114800"/>
          </a:xfrm>
          <a:prstGeom prst="rect">
            <a:avLst/>
          </a:prstGeom>
          <a:noFill/>
        </p:spPr>
        <p:txBody>
          <a:bodyPr wrap="none" lIns="274320" tIns="182880">
            <a:spAutoFit/>
          </a:bodyPr>
          <a:lstStyle/>
          <a:p>
            <a:pPr algn="l">
              <a:spcAft>
                <a:spcPts val="1600"/>
              </a:spcAft>
              <a:defRPr sz="2400">
                <a:solidFill>
                  <a:srgbClr val="424242"/>
                </a:solidFill>
                <a:latin typeface="Segoe UI"/>
              </a:defRPr>
            </a:pPr>
            <a:r>
              <a:t>Reduce carbon footprint</a:t>
            </a:r>
          </a:p>
          <a:p>
            <a:pPr algn="l">
              <a:spcAft>
                <a:spcPts val="1600"/>
              </a:spcAft>
              <a:defRPr sz="2400">
                <a:solidFill>
                  <a:srgbClr val="424242"/>
                </a:solidFill>
                <a:latin typeface="Segoe UI"/>
              </a:defRPr>
            </a:pPr>
            <a:r>
              <a:t>Improve air quality</a:t>
            </a:r>
          </a:p>
          <a:p>
            <a:pPr algn="l">
              <a:spcAft>
                <a:spcPts val="1600"/>
              </a:spcAft>
              <a:defRPr sz="2400">
                <a:solidFill>
                  <a:srgbClr val="424242"/>
                </a:solidFill>
                <a:latin typeface="Segoe UI"/>
              </a:defRPr>
            </a:pPr>
            <a:r>
              <a:t>Conserve natural resources</a:t>
            </a:r>
          </a:p>
          <a:p>
            <a:pPr algn="l">
              <a:spcAft>
                <a:spcPts val="1600"/>
              </a:spcAft>
              <a:defRPr sz="2400">
                <a:solidFill>
                  <a:srgbClr val="424242"/>
                </a:solidFill>
                <a:latin typeface="Segoe UI"/>
              </a:defRPr>
            </a:pPr>
            <a:r>
              <a:t>Enhance public image</a:t>
            </a:r>
          </a:p>
          <a:p>
            <a:pPr algn="l">
              <a:spcAft>
                <a:spcPts val="1600"/>
              </a:spcAft>
              <a:defRPr sz="2400">
                <a:solidFill>
                  <a:srgbClr val="424242"/>
                </a:solidFill>
                <a:latin typeface="Segoe UI"/>
              </a:defRPr>
            </a:pPr>
            <a:r>
              <a:t>Attract eco-conscious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60152" cy="914400"/>
          </a:xfrm>
          <a:prstGeom prst="rect">
            <a:avLst/>
          </a:prstGeom>
          <a:noFill/>
        </p:spPr>
        <p:txBody>
          <a:bodyPr wrap="none">
            <a:spAutoFit/>
          </a:bodyPr>
          <a:lstStyle/>
          <a:p>
            <a:pPr algn="l">
              <a:defRPr sz="3600" b="1">
                <a:solidFill>
                  <a:srgbClr val="2E7D32"/>
                </a:solidFill>
              </a:defRPr>
            </a:pPr>
            <a:r>
              <a:t>Leading with Green Innovation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914400"/>
          </a:xfrm>
          <a:prstGeom prst="rect">
            <a:avLst/>
          </a:prstGeom>
          <a:noFill/>
        </p:spPr>
        <p:txBody>
          <a:bodyPr wrap="none">
            <a:spAutoFit/>
          </a:bodyPr>
          <a:lstStyle/>
          <a:p>
            <a:pPr algn="l">
              <a:defRPr sz="3600" b="1">
                <a:solidFill>
                  <a:srgbClr val="2E7D32"/>
                </a:solidFill>
                <a:latin typeface="Segoe UI"/>
              </a:defRPr>
            </a:pPr>
            <a:r>
              <a:t>Strategic Pathways to Adoption</a:t>
            </a:r>
          </a:p>
        </p:txBody>
      </p:sp>
      <p:sp>
        <p:nvSpPr>
          <p:cNvPr id="4" name="TextBox 3"/>
          <p:cNvSpPr txBox="1"/>
          <p:nvPr/>
        </p:nvSpPr>
        <p:spPr>
          <a:xfrm>
            <a:off x="640080" y="1645920"/>
            <a:ext cx="10634472" cy="4114800"/>
          </a:xfrm>
          <a:prstGeom prst="rect">
            <a:avLst/>
          </a:prstGeom>
          <a:noFill/>
        </p:spPr>
        <p:txBody>
          <a:bodyPr wrap="none" lIns="274320" tIns="182880">
            <a:spAutoFit/>
          </a:bodyPr>
          <a:lstStyle/>
          <a:p>
            <a:pPr algn="l">
              <a:spcAft>
                <a:spcPts val="1600"/>
              </a:spcAft>
              <a:defRPr sz="2400">
                <a:solidFill>
                  <a:srgbClr val="424242"/>
                </a:solidFill>
                <a:latin typeface="Segoe UI"/>
              </a:defRPr>
            </a:pPr>
            <a:r>
              <a:t>On-site generation (solar, wind)</a:t>
            </a:r>
          </a:p>
          <a:p>
            <a:pPr algn="l">
              <a:spcAft>
                <a:spcPts val="1600"/>
              </a:spcAft>
              <a:defRPr sz="2400">
                <a:solidFill>
                  <a:srgbClr val="424242"/>
                </a:solidFill>
                <a:latin typeface="Segoe UI"/>
              </a:defRPr>
            </a:pPr>
            <a:r>
              <a:t>Power Purchase Agreements (PPAs)</a:t>
            </a:r>
          </a:p>
          <a:p>
            <a:pPr algn="l">
              <a:spcAft>
                <a:spcPts val="1600"/>
              </a:spcAft>
              <a:defRPr sz="2400">
                <a:solidFill>
                  <a:srgbClr val="424242"/>
                </a:solidFill>
                <a:latin typeface="Segoe UI"/>
              </a:defRPr>
            </a:pPr>
            <a:r>
              <a:t>Green energy certificates</a:t>
            </a:r>
          </a:p>
          <a:p>
            <a:pPr algn="l">
              <a:spcAft>
                <a:spcPts val="1600"/>
              </a:spcAft>
              <a:defRPr sz="2400">
                <a:solidFill>
                  <a:srgbClr val="424242"/>
                </a:solidFill>
                <a:latin typeface="Segoe UI"/>
              </a:defRPr>
            </a:pPr>
            <a:r>
              <a:t>Energy efficiency upgrades</a:t>
            </a:r>
          </a:p>
          <a:p>
            <a:pPr algn="l">
              <a:spcAft>
                <a:spcPts val="1600"/>
              </a:spcAft>
              <a:defRPr sz="2400">
                <a:solidFill>
                  <a:srgbClr val="424242"/>
                </a:solidFill>
                <a:latin typeface="Segoe UI"/>
              </a:defRPr>
            </a:pPr>
            <a:r>
              <a:t>Partner with experts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914400"/>
          </a:xfrm>
          <a:prstGeom prst="rect">
            <a:avLst/>
          </a:prstGeom>
          <a:noFill/>
        </p:spPr>
        <p:txBody>
          <a:bodyPr wrap="none">
            <a:spAutoFit/>
          </a:bodyPr>
          <a:lstStyle/>
          <a:p>
            <a:pPr algn="l">
              <a:defRPr sz="3600" b="1">
                <a:solidFill>
                  <a:srgbClr val="2E7D32"/>
                </a:solidFill>
                <a:latin typeface="Segoe UI"/>
              </a:defRPr>
            </a:pPr>
            <a:r>
              <a:t>The Irrefutable Case for Renewables</a:t>
            </a:r>
          </a:p>
        </p:txBody>
      </p:sp>
      <p:sp>
        <p:nvSpPr>
          <p:cNvPr id="4" name="TextBox 3"/>
          <p:cNvSpPr txBox="1"/>
          <p:nvPr/>
        </p:nvSpPr>
        <p:spPr>
          <a:xfrm>
            <a:off x="640080" y="1645920"/>
            <a:ext cx="10634472" cy="4114800"/>
          </a:xfrm>
          <a:prstGeom prst="rect">
            <a:avLst/>
          </a:prstGeom>
          <a:noFill/>
        </p:spPr>
        <p:txBody>
          <a:bodyPr wrap="none" lIns="274320" tIns="182880">
            <a:spAutoFit/>
          </a:bodyPr>
          <a:lstStyle/>
          <a:p>
            <a:pPr algn="l">
              <a:spcAft>
                <a:spcPts val="1200"/>
              </a:spcAft>
              <a:defRPr sz="2000">
                <a:solidFill>
                  <a:srgbClr val="424242"/>
                </a:solidFill>
                <a:latin typeface="Segoe UI"/>
              </a:defRPr>
            </a:pPr>
            <a:r>
              <a:t>Renewable energy is not just an environmental imperative; it's a strategic business decision that delivers substantial financial savings, enhances brand value, and ensures long-term sustainability. Embrace this future.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82880" cy="6858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0152" cy="1828800"/>
          </a:xfrm>
          <a:prstGeom prst="rect">
            <a:avLst/>
          </a:prstGeom>
          <a:noFill/>
        </p:spPr>
        <p:txBody>
          <a:bodyPr wrap="none">
            <a:spAutoFit/>
          </a:bodyPr>
          <a:lstStyle/>
          <a:p>
            <a:pPr algn="ctr">
              <a:defRPr sz="5400" b="1">
                <a:solidFill>
                  <a:srgbClr val="2E7D32"/>
                </a:solidFill>
                <a:latin typeface="Segoe UI"/>
              </a:defRPr>
            </a:pPr>
            <a:r>
              <a:t>Thank You</a:t>
            </a:r>
          </a:p>
        </p:txBody>
      </p:sp>
      <p:sp>
        <p:nvSpPr>
          <p:cNvPr id="4" name="TextBox 3"/>
          <p:cNvSpPr txBox="1"/>
          <p:nvPr/>
        </p:nvSpPr>
        <p:spPr>
          <a:xfrm>
            <a:off x="914400" y="4114800"/>
            <a:ext cx="10360152" cy="1371600"/>
          </a:xfrm>
          <a:prstGeom prst="rect">
            <a:avLst/>
          </a:prstGeom>
          <a:noFill/>
        </p:spPr>
        <p:txBody>
          <a:bodyPr wrap="none">
            <a:spAutoFit/>
          </a:bodyPr>
          <a:lstStyle/>
          <a:p>
            <a:pPr algn="ctr">
              <a:defRPr sz="3200">
                <a:solidFill>
                  <a:srgbClr val="424242"/>
                </a:solidFill>
                <a:latin typeface="Segoe UI"/>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